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3" r:id="rId6"/>
    <p:sldId id="265" r:id="rId7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 autoAdjust="0"/>
    <p:restoredTop sz="94660"/>
  </p:normalViewPr>
  <p:slideViewPr>
    <p:cSldViewPr snapToGrid="0">
      <p:cViewPr>
        <p:scale>
          <a:sx n="66" d="100"/>
          <a:sy n="66" d="100"/>
        </p:scale>
        <p:origin x="-474" y="90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12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15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875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10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31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173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38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722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41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63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2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3D3B6-92AB-41ED-B62F-3BB18DC4D6DD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AD3075-C641-4062-BE89-E560F854C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5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="" xmlns:a16="http://schemas.microsoft.com/office/drawing/2014/main" id="{B68174C3-5A2E-7A60-3425-73AC3B6CD800}"/>
              </a:ext>
            </a:extLst>
          </p:cNvPr>
          <p:cNvSpPr/>
          <p:nvPr/>
        </p:nvSpPr>
        <p:spPr>
          <a:xfrm>
            <a:off x="7793117" y="3466028"/>
            <a:ext cx="6043493" cy="7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800"/>
              </a:lnSpc>
              <a:buNone/>
            </a:pPr>
            <a:r>
              <a:rPr lang="en-US" sz="44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الجهاز</a:t>
            </a: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4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</a:t>
            </a:r>
            <a:r>
              <a:rPr lang="ar-EG" sz="4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عصبي</a:t>
            </a:r>
            <a:r>
              <a:rPr lang="en-US" sz="4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في الإنسان</a:t>
            </a:r>
            <a:endParaRPr lang="en-US" sz="4450" dirty="0"/>
          </a:p>
        </p:txBody>
      </p:sp>
      <p:sp>
        <p:nvSpPr>
          <p:cNvPr id="13" name="Text 1">
            <a:extLst>
              <a:ext uri="{FF2B5EF4-FFF2-40B4-BE49-F238E27FC236}">
                <a16:creationId xmlns="" xmlns:a16="http://schemas.microsoft.com/office/drawing/2014/main" id="{F5BC8B27-F9EC-5F7B-EBC3-5BDC6D521536}"/>
              </a:ext>
            </a:extLst>
          </p:cNvPr>
          <p:cNvSpPr/>
          <p:nvPr/>
        </p:nvSpPr>
        <p:spPr>
          <a:xfrm>
            <a:off x="6280190" y="4505444"/>
            <a:ext cx="755642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دراسة شاملة عن وظائف وتركيب الجهاز المسؤول </a:t>
            </a:r>
            <a:r>
              <a:rPr lang="en-US" sz="1550" dirty="0" err="1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عن</a:t>
            </a:r>
            <a:r>
              <a:rPr lang="en-US" sz="1550" dirty="0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1550" dirty="0" err="1" smtClean="0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ال</a:t>
            </a:r>
            <a:r>
              <a:rPr lang="ar-EG" sz="1550" dirty="0" smtClean="0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حركة والانفعالات </a:t>
            </a:r>
            <a:r>
              <a:rPr lang="en-US" sz="1550" dirty="0" err="1" smtClean="0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في</a:t>
            </a:r>
            <a:r>
              <a:rPr lang="en-US" sz="1550" dirty="0" smtClean="0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 </a:t>
            </a:r>
            <a:r>
              <a:rPr lang="en-US" sz="1550" dirty="0">
                <a:solidFill>
                  <a:srgbClr val="67534F"/>
                </a:solidFill>
                <a:latin typeface="Arial" panose="020B0604020202020204" pitchFamily="34" charset="0"/>
                <a:ea typeface="Montserrat" pitchFamily="34" charset="-122"/>
                <a:cs typeface="Arial" panose="020B0604020202020204" pitchFamily="34" charset="0"/>
              </a:rPr>
              <a:t>جسم الإنسان</a:t>
            </a:r>
            <a:endParaRPr lang="en-US" sz="15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686" y="271481"/>
            <a:ext cx="5583503" cy="745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56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="" xmlns:a16="http://schemas.microsoft.com/office/drawing/2014/main" id="{D9E75024-8584-234D-D814-77EA357BED55}"/>
              </a:ext>
            </a:extLst>
          </p:cNvPr>
          <p:cNvSpPr/>
          <p:nvPr/>
        </p:nvSpPr>
        <p:spPr>
          <a:xfrm>
            <a:off x="8130540" y="1951196"/>
            <a:ext cx="5706070" cy="7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ما هو </a:t>
            </a:r>
            <a:r>
              <a:rPr lang="en-US" sz="44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الجهاز</a:t>
            </a: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4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</a:t>
            </a:r>
            <a:r>
              <a:rPr lang="ar-EG" sz="4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عصبي</a:t>
            </a:r>
            <a:r>
              <a:rPr lang="en-US" sz="4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؟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0558829A-B42F-5B1E-A4FE-772324F9E389}"/>
              </a:ext>
            </a:extLst>
          </p:cNvPr>
          <p:cNvSpPr/>
          <p:nvPr/>
        </p:nvSpPr>
        <p:spPr>
          <a:xfrm>
            <a:off x="793790" y="3497943"/>
            <a:ext cx="6279356" cy="1915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4000" b="1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الجهاز العصبي هو: شبكة الاتصالات والتحكم</a:t>
            </a:r>
          </a:p>
          <a:p>
            <a:pPr marL="0" indent="0" algn="r" rtl="1">
              <a:lnSpc>
                <a:spcPts val="2000"/>
              </a:lnSpc>
              <a:buNone/>
            </a:pPr>
            <a:endParaRPr lang="ar-EG" sz="4000" b="1" dirty="0">
              <a:solidFill>
                <a:srgbClr val="67534F"/>
              </a:solidFill>
              <a:latin typeface="Vazirmatn ExtraBold" pitchFamily="2" charset="-78"/>
              <a:ea typeface="Montserrat" pitchFamily="34" charset="-122"/>
              <a:cs typeface="Vazirmatn ExtraBold" pitchFamily="2" charset="-78"/>
            </a:endParaRP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4000" b="1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 المركزية في الجسم </a:t>
            </a:r>
          </a:p>
          <a:p>
            <a:pPr marL="0" indent="0" algn="r" rtl="1">
              <a:lnSpc>
                <a:spcPts val="2000"/>
              </a:lnSpc>
              <a:buNone/>
            </a:pPr>
            <a:endParaRPr lang="ar-EG" sz="4000" b="1" dirty="0" smtClean="0">
              <a:solidFill>
                <a:srgbClr val="67534F"/>
              </a:solidFill>
              <a:latin typeface="Vazirmatn ExtraBold" pitchFamily="2" charset="-78"/>
              <a:ea typeface="Montserrat" pitchFamily="34" charset="-122"/>
              <a:cs typeface="Vazirmatn ExtraBold" pitchFamily="2" charset="-78"/>
            </a:endParaRP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4000" b="1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هو المسؤول عن استقبال المعلومات من بيئتك </a:t>
            </a:r>
          </a:p>
          <a:p>
            <a:pPr marL="0" indent="0" algn="r" rtl="1">
              <a:lnSpc>
                <a:spcPts val="2000"/>
              </a:lnSpc>
              <a:buNone/>
            </a:pPr>
            <a:endParaRPr lang="ar-EG" sz="4000" b="1" dirty="0">
              <a:solidFill>
                <a:srgbClr val="67534F"/>
              </a:solidFill>
              <a:latin typeface="Vazirmatn ExtraBold" pitchFamily="2" charset="-78"/>
              <a:ea typeface="Montserrat" pitchFamily="34" charset="-122"/>
              <a:cs typeface="Vazirmatn ExtraBold" pitchFamily="2" charset="-78"/>
            </a:endParaRP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4000" b="1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وتفسيرها ثم ارسال أوامر لأجزاء الجسم للقيام برد </a:t>
            </a:r>
          </a:p>
          <a:p>
            <a:pPr marL="0" indent="0" algn="r" rtl="1">
              <a:lnSpc>
                <a:spcPts val="2000"/>
              </a:lnSpc>
              <a:buNone/>
            </a:pPr>
            <a:endParaRPr lang="ar-EG" sz="4000" b="1" dirty="0">
              <a:solidFill>
                <a:srgbClr val="67534F"/>
              </a:solidFill>
              <a:latin typeface="Vazirmatn ExtraBold" pitchFamily="2" charset="-78"/>
              <a:ea typeface="Montserrat" pitchFamily="34" charset="-122"/>
              <a:cs typeface="Vazirmatn ExtraBold" pitchFamily="2" charset="-78"/>
            </a:endParaRP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4000" b="1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الفعل المناسبة</a:t>
            </a:r>
            <a:endParaRPr lang="en-US" sz="4000" b="1" dirty="0">
              <a:latin typeface="Vazirmatn ExtraBold" pitchFamily="2" charset="-78"/>
              <a:cs typeface="Vazirmatn ExtraBold" pitchFamily="2" charset="-78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="" xmlns:a16="http://schemas.microsoft.com/office/drawing/2014/main" id="{DC6D1B24-8BE6-31E6-2EF3-7AF54430BF48}"/>
              </a:ext>
            </a:extLst>
          </p:cNvPr>
          <p:cNvSpPr/>
          <p:nvPr/>
        </p:nvSpPr>
        <p:spPr>
          <a:xfrm>
            <a:off x="793790" y="4121825"/>
            <a:ext cx="6279356" cy="103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endParaRPr lang="en-US" dirty="0">
              <a:latin typeface="Vazirmatn ExtraBold" pitchFamily="2" charset="-78"/>
              <a:cs typeface="Vazirmatn ExtraBold" pitchFamily="2" charset="-78"/>
            </a:endParaRPr>
          </a:p>
        </p:txBody>
      </p:sp>
      <p:pic>
        <p:nvPicPr>
          <p:cNvPr id="6" name="صورة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971" y="3497942"/>
            <a:ext cx="6245639" cy="2293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97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="" xmlns:a16="http://schemas.microsoft.com/office/drawing/2014/main" id="{4750B8A4-44F7-4770-E0DD-6EA59474775B}"/>
              </a:ext>
            </a:extLst>
          </p:cNvPr>
          <p:cNvSpPr/>
          <p:nvPr/>
        </p:nvSpPr>
        <p:spPr>
          <a:xfrm>
            <a:off x="7255073" y="1796891"/>
            <a:ext cx="6581537" cy="7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مكونات </a:t>
            </a:r>
            <a:r>
              <a:rPr lang="en-US" sz="44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الجهاز</a:t>
            </a: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4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</a:t>
            </a:r>
            <a:r>
              <a:rPr lang="ar-EG" sz="4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عصبي المركزي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B90232A1-2914-1C8A-A84A-F98E25694B33}"/>
              </a:ext>
            </a:extLst>
          </p:cNvPr>
          <p:cNvSpPr/>
          <p:nvPr/>
        </p:nvSpPr>
        <p:spPr>
          <a:xfrm>
            <a:off x="793790" y="2935486"/>
            <a:ext cx="1304282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مركز القيادة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="" xmlns:a16="http://schemas.microsoft.com/office/drawing/2014/main" id="{8461AFED-A809-6620-0BD4-CAA712FC0EA4}"/>
              </a:ext>
            </a:extLst>
          </p:cNvPr>
          <p:cNvSpPr/>
          <p:nvPr/>
        </p:nvSpPr>
        <p:spPr>
          <a:xfrm>
            <a:off x="8142514" y="3416737"/>
            <a:ext cx="5694098" cy="3015972"/>
          </a:xfrm>
          <a:prstGeom prst="roundRect">
            <a:avLst>
              <a:gd name="adj" fmla="val 2764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="" xmlns:a16="http://schemas.microsoft.com/office/drawing/2014/main" id="{16EF0BFF-C6E0-AE41-5353-A74D008045DE}"/>
              </a:ext>
            </a:extLst>
          </p:cNvPr>
          <p:cNvSpPr/>
          <p:nvPr/>
        </p:nvSpPr>
        <p:spPr>
          <a:xfrm>
            <a:off x="12859657" y="3637954"/>
            <a:ext cx="755735" cy="793670"/>
          </a:xfrm>
          <a:prstGeom prst="roundRect">
            <a:avLst>
              <a:gd name="adj" fmla="val 15358451"/>
            </a:avLst>
          </a:prstGeom>
          <a:solidFill>
            <a:srgbClr val="FF954F"/>
          </a:solidFill>
          <a:ln/>
        </p:spPr>
      </p:sp>
      <p:sp>
        <p:nvSpPr>
          <p:cNvPr id="7" name="Text 4">
            <a:extLst>
              <a:ext uri="{FF2B5EF4-FFF2-40B4-BE49-F238E27FC236}">
                <a16:creationId xmlns="" xmlns:a16="http://schemas.microsoft.com/office/drawing/2014/main" id="{FF30A1A1-F027-9BF1-1530-C9859C27DADA}"/>
              </a:ext>
            </a:extLst>
          </p:cNvPr>
          <p:cNvSpPr/>
          <p:nvPr/>
        </p:nvSpPr>
        <p:spPr>
          <a:xfrm>
            <a:off x="10762417" y="4431625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2200" dirty="0" err="1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</a:t>
            </a:r>
            <a:r>
              <a:rPr lang="ar-EG" sz="220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مخ</a:t>
            </a:r>
            <a:endParaRPr lang="en-US" sz="2200" dirty="0"/>
          </a:p>
        </p:txBody>
      </p:sp>
      <p:sp>
        <p:nvSpPr>
          <p:cNvPr id="8" name="Text 5">
            <a:extLst>
              <a:ext uri="{FF2B5EF4-FFF2-40B4-BE49-F238E27FC236}">
                <a16:creationId xmlns="" xmlns:a16="http://schemas.microsoft.com/office/drawing/2014/main" id="{B8B69A08-DDE3-FF18-E32A-FFE5E133CC6F}"/>
              </a:ext>
            </a:extLst>
          </p:cNvPr>
          <p:cNvSpPr/>
          <p:nvPr/>
        </p:nvSpPr>
        <p:spPr>
          <a:xfrm>
            <a:off x="9842540" y="4921448"/>
            <a:ext cx="3772853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العضو الاكبر ويوجد داخل الجمجمة ويشمل النصفين الكرويين للتفكير والعمليات الارادية والمخيخ للتوازن وجذع الدماغ للعمليات </a:t>
            </a:r>
            <a:r>
              <a:rPr lang="ar-EG" sz="1550" dirty="0" err="1" smtClean="0">
                <a:latin typeface="Vazirmatn ExtraBold" pitchFamily="2" charset="-78"/>
                <a:cs typeface="Vazirmatn ExtraBold" pitchFamily="2" charset="-78"/>
              </a:rPr>
              <a:t>اللا</a:t>
            </a: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 ارادية كالتنفس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sp>
        <p:nvSpPr>
          <p:cNvPr id="9" name="Shape 6">
            <a:extLst>
              <a:ext uri="{FF2B5EF4-FFF2-40B4-BE49-F238E27FC236}">
                <a16:creationId xmlns="" xmlns:a16="http://schemas.microsoft.com/office/drawing/2014/main" id="{978B4C22-21E5-D4C0-404B-808A72C00CBD}"/>
              </a:ext>
            </a:extLst>
          </p:cNvPr>
          <p:cNvSpPr/>
          <p:nvPr/>
        </p:nvSpPr>
        <p:spPr>
          <a:xfrm>
            <a:off x="1175658" y="3416737"/>
            <a:ext cx="5384800" cy="3015972"/>
          </a:xfrm>
          <a:prstGeom prst="roundRect">
            <a:avLst>
              <a:gd name="adj" fmla="val 2764"/>
            </a:avLst>
          </a:prstGeom>
          <a:solidFill>
            <a:srgbClr val="FFFFF4"/>
          </a:solidFill>
          <a:ln w="22860">
            <a:solidFill>
              <a:srgbClr val="FFE0CC"/>
            </a:solidFill>
            <a:prstDash val="solid"/>
          </a:ln>
        </p:spPr>
      </p:sp>
      <p:sp>
        <p:nvSpPr>
          <p:cNvPr id="10" name="Shape 7">
            <a:extLst>
              <a:ext uri="{FF2B5EF4-FFF2-40B4-BE49-F238E27FC236}">
                <a16:creationId xmlns="" xmlns:a16="http://schemas.microsoft.com/office/drawing/2014/main" id="{8F2AFC2D-AA26-1B37-EF83-0F04C76667EE}"/>
              </a:ext>
            </a:extLst>
          </p:cNvPr>
          <p:cNvSpPr/>
          <p:nvPr/>
        </p:nvSpPr>
        <p:spPr>
          <a:xfrm>
            <a:off x="5733143" y="3637954"/>
            <a:ext cx="710806" cy="740046"/>
          </a:xfrm>
          <a:prstGeom prst="roundRect">
            <a:avLst>
              <a:gd name="adj" fmla="val 15358451"/>
            </a:avLst>
          </a:prstGeom>
          <a:solidFill>
            <a:srgbClr val="FF954F"/>
          </a:solidFill>
          <a:ln/>
        </p:spPr>
      </p:sp>
      <p:sp>
        <p:nvSpPr>
          <p:cNvPr id="12" name="Text 8">
            <a:extLst>
              <a:ext uri="{FF2B5EF4-FFF2-40B4-BE49-F238E27FC236}">
                <a16:creationId xmlns="" xmlns:a16="http://schemas.microsoft.com/office/drawing/2014/main" id="{18A08ADD-276A-5279-804B-B5E7F9C0D715}"/>
              </a:ext>
            </a:extLst>
          </p:cNvPr>
          <p:cNvSpPr/>
          <p:nvPr/>
        </p:nvSpPr>
        <p:spPr>
          <a:xfrm>
            <a:off x="3213684" y="4431624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2200" dirty="0" err="1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</a:t>
            </a:r>
            <a:r>
              <a:rPr lang="ar-EG" sz="220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حبل الشوكي</a:t>
            </a:r>
            <a:endParaRPr lang="en-US" sz="2200" dirty="0"/>
          </a:p>
        </p:txBody>
      </p:sp>
      <p:sp>
        <p:nvSpPr>
          <p:cNvPr id="13" name="Text 9">
            <a:extLst>
              <a:ext uri="{FF2B5EF4-FFF2-40B4-BE49-F238E27FC236}">
                <a16:creationId xmlns="" xmlns:a16="http://schemas.microsoft.com/office/drawing/2014/main" id="{27E6F7D8-4FFB-BDB0-12D9-A64265406FEC}"/>
              </a:ext>
            </a:extLst>
          </p:cNvPr>
          <p:cNvSpPr/>
          <p:nvPr/>
        </p:nvSpPr>
        <p:spPr>
          <a:xfrm>
            <a:off x="1858260" y="4802386"/>
            <a:ext cx="3772972" cy="103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انبوب عصبي يمتد داخل العمود الفقري وينقل الرسائل بين المخ والجسم كما انه المسؤول عن الافعال المنعكسة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pic>
        <p:nvPicPr>
          <p:cNvPr id="19" name="صورة 1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5347" y="3643393"/>
            <a:ext cx="740046" cy="740046"/>
          </a:xfrm>
          <a:prstGeom prst="rect">
            <a:avLst/>
          </a:prstGeom>
        </p:spPr>
      </p:pic>
      <p:pic>
        <p:nvPicPr>
          <p:cNvPr id="20" name="صورة 19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4600" b="96000" l="39200" r="60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4410" y="1970736"/>
            <a:ext cx="3668272" cy="2445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08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="" xmlns:a16="http://schemas.microsoft.com/office/drawing/2014/main" id="{F6F3B414-407F-AB3D-A59B-1738CE7DEC51}"/>
              </a:ext>
            </a:extLst>
          </p:cNvPr>
          <p:cNvSpPr/>
          <p:nvPr/>
        </p:nvSpPr>
        <p:spPr>
          <a:xfrm>
            <a:off x="7912775" y="1484948"/>
            <a:ext cx="5923836" cy="7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800"/>
              </a:lnSpc>
              <a:buNone/>
            </a:pPr>
            <a:r>
              <a:rPr lang="en-US" sz="4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</a:t>
            </a:r>
            <a:r>
              <a:rPr lang="ar-EG" sz="4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جهاز العصبي الطرفي</a:t>
            </a:r>
            <a:endParaRPr lang="en-US" sz="4450" dirty="0"/>
          </a:p>
        </p:txBody>
      </p:sp>
      <p:sp>
        <p:nvSpPr>
          <p:cNvPr id="4" name="Text 1">
            <a:extLst>
              <a:ext uri="{FF2B5EF4-FFF2-40B4-BE49-F238E27FC236}">
                <a16:creationId xmlns="" xmlns:a16="http://schemas.microsoft.com/office/drawing/2014/main" id="{582F90F0-039A-AB33-83AA-3AC679550047}"/>
              </a:ext>
            </a:extLst>
          </p:cNvPr>
          <p:cNvSpPr/>
          <p:nvPr/>
        </p:nvSpPr>
        <p:spPr>
          <a:xfrm>
            <a:off x="13638252" y="2524363"/>
            <a:ext cx="198358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2">
            <a:extLst>
              <a:ext uri="{FF2B5EF4-FFF2-40B4-BE49-F238E27FC236}">
                <a16:creationId xmlns="" xmlns:a16="http://schemas.microsoft.com/office/drawing/2014/main" id="{91357BD8-D901-4090-948A-29B056BDE07A}"/>
              </a:ext>
            </a:extLst>
          </p:cNvPr>
          <p:cNvSpPr/>
          <p:nvPr/>
        </p:nvSpPr>
        <p:spPr>
          <a:xfrm>
            <a:off x="10157579" y="2848689"/>
            <a:ext cx="3679031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6" name="Text 3">
            <a:extLst>
              <a:ext uri="{FF2B5EF4-FFF2-40B4-BE49-F238E27FC236}">
                <a16:creationId xmlns="" xmlns:a16="http://schemas.microsoft.com/office/drawing/2014/main" id="{A2388B9E-25A9-DCE9-0494-23FF480B4CA9}"/>
              </a:ext>
            </a:extLst>
          </p:cNvPr>
          <p:cNvSpPr/>
          <p:nvPr/>
        </p:nvSpPr>
        <p:spPr>
          <a:xfrm>
            <a:off x="10983635" y="2993588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ar-EG" sz="2200" dirty="0" smtClean="0"/>
              <a:t>اعصاب مخية</a:t>
            </a:r>
            <a:endParaRPr lang="en-US" sz="2200" dirty="0"/>
          </a:p>
        </p:txBody>
      </p:sp>
      <p:sp>
        <p:nvSpPr>
          <p:cNvPr id="7" name="Text 4">
            <a:extLst>
              <a:ext uri="{FF2B5EF4-FFF2-40B4-BE49-F238E27FC236}">
                <a16:creationId xmlns="" xmlns:a16="http://schemas.microsoft.com/office/drawing/2014/main" id="{48F56D69-3C23-44FD-6771-03FFDDE05821}"/>
              </a:ext>
            </a:extLst>
          </p:cNvPr>
          <p:cNvSpPr/>
          <p:nvPr/>
        </p:nvSpPr>
        <p:spPr>
          <a:xfrm>
            <a:off x="10157579" y="3483412"/>
            <a:ext cx="3679031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12 زوجا تخرج من المخ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="" xmlns:a16="http://schemas.microsoft.com/office/drawing/2014/main" id="{56FD33C1-6972-A984-E4A4-1E050921967E}"/>
              </a:ext>
            </a:extLst>
          </p:cNvPr>
          <p:cNvSpPr/>
          <p:nvPr/>
        </p:nvSpPr>
        <p:spPr>
          <a:xfrm>
            <a:off x="9760863" y="2524363"/>
            <a:ext cx="198358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 Light" pitchFamily="34" charset="0"/>
                <a:ea typeface="Marcellus Light" pitchFamily="34" charset="-122"/>
                <a:cs typeface="Marcellu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6">
            <a:extLst>
              <a:ext uri="{FF2B5EF4-FFF2-40B4-BE49-F238E27FC236}">
                <a16:creationId xmlns="" xmlns:a16="http://schemas.microsoft.com/office/drawing/2014/main" id="{D2784727-2AE1-CB79-63EF-B72EAF8CE01D}"/>
              </a:ext>
            </a:extLst>
          </p:cNvPr>
          <p:cNvSpPr/>
          <p:nvPr/>
        </p:nvSpPr>
        <p:spPr>
          <a:xfrm>
            <a:off x="6280190" y="2848689"/>
            <a:ext cx="3679031" cy="22860"/>
          </a:xfrm>
          <a:prstGeom prst="rect">
            <a:avLst/>
          </a:prstGeom>
          <a:solidFill>
            <a:srgbClr val="FF954F"/>
          </a:solidFill>
          <a:ln/>
        </p:spPr>
      </p:sp>
      <p:sp>
        <p:nvSpPr>
          <p:cNvPr id="10" name="Text 7">
            <a:extLst>
              <a:ext uri="{FF2B5EF4-FFF2-40B4-BE49-F238E27FC236}">
                <a16:creationId xmlns="" xmlns:a16="http://schemas.microsoft.com/office/drawing/2014/main" id="{25D6EE1A-C908-B30D-8C08-4FE43065DC3E}"/>
              </a:ext>
            </a:extLst>
          </p:cNvPr>
          <p:cNvSpPr/>
          <p:nvPr/>
        </p:nvSpPr>
        <p:spPr>
          <a:xfrm>
            <a:off x="7106245" y="2993588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ar-EG" sz="220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اعصاب شوكية</a:t>
            </a:r>
            <a:endParaRPr lang="en-US" sz="2200" dirty="0"/>
          </a:p>
        </p:txBody>
      </p:sp>
      <p:sp>
        <p:nvSpPr>
          <p:cNvPr id="11" name="Text 8">
            <a:extLst>
              <a:ext uri="{FF2B5EF4-FFF2-40B4-BE49-F238E27FC236}">
                <a16:creationId xmlns="" xmlns:a16="http://schemas.microsoft.com/office/drawing/2014/main" id="{15043DE1-B4E1-2F83-0746-A8EC83308B01}"/>
              </a:ext>
            </a:extLst>
          </p:cNvPr>
          <p:cNvSpPr/>
          <p:nvPr/>
        </p:nvSpPr>
        <p:spPr>
          <a:xfrm>
            <a:off x="6280190" y="3483412"/>
            <a:ext cx="3679031" cy="1032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31 زوجا تخرج من الحبل الشوكي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pic>
        <p:nvPicPr>
          <p:cNvPr id="16" name="صورة 1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56731" y="685896"/>
            <a:ext cx="6762750" cy="506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701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="" xmlns:a16="http://schemas.microsoft.com/office/drawing/2014/main" id="{E3B03AF3-76F1-1C52-2043-1628B59848EB}"/>
              </a:ext>
            </a:extLst>
          </p:cNvPr>
          <p:cNvSpPr/>
          <p:nvPr/>
        </p:nvSpPr>
        <p:spPr>
          <a:xfrm>
            <a:off x="4128254" y="2064663"/>
            <a:ext cx="9708356" cy="7417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800"/>
              </a:lnSpc>
              <a:buNone/>
            </a:pP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العوامل التي تؤثر على صحة </a:t>
            </a:r>
            <a:r>
              <a:rPr lang="en-US" sz="4450" dirty="0" err="1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الجهاز</a:t>
            </a:r>
            <a:r>
              <a:rPr lang="en-US" sz="4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 </a:t>
            </a:r>
            <a:r>
              <a:rPr lang="en-US" sz="4450" dirty="0" err="1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</a:t>
            </a:r>
            <a:r>
              <a:rPr lang="ar-EG" sz="4450" dirty="0" smtClean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عصبي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="" xmlns:a16="http://schemas.microsoft.com/office/drawing/2014/main" id="{422B57E1-7F64-0F3A-DA74-0B4DF873D2CA}"/>
              </a:ext>
            </a:extLst>
          </p:cNvPr>
          <p:cNvSpPr/>
          <p:nvPr/>
        </p:nvSpPr>
        <p:spPr>
          <a:xfrm>
            <a:off x="793790" y="3203258"/>
            <a:ext cx="13042821" cy="258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يتعرض </a:t>
            </a:r>
            <a:r>
              <a:rPr lang="en-US" sz="1550" dirty="0" err="1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الجهاز</a:t>
            </a:r>
            <a:r>
              <a:rPr lang="en-US" sz="1550" dirty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 </a:t>
            </a:r>
            <a:r>
              <a:rPr lang="en-US" sz="1550" dirty="0" err="1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ال</a:t>
            </a:r>
            <a:r>
              <a:rPr lang="ar-EG" sz="1550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عصبي لعدة عوامل تؤثر علي </a:t>
            </a:r>
            <a:r>
              <a:rPr lang="ar-EG" sz="1550" dirty="0" err="1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كفائة</a:t>
            </a:r>
            <a:r>
              <a:rPr lang="ar-EG" sz="1550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 عمله</a:t>
            </a:r>
            <a:r>
              <a:rPr lang="en-US" sz="1550" dirty="0" smtClean="0">
                <a:solidFill>
                  <a:srgbClr val="67534F"/>
                </a:solidFill>
                <a:latin typeface="Vazirmatn ExtraBold" pitchFamily="2" charset="-78"/>
                <a:ea typeface="Montserrat" pitchFamily="34" charset="-122"/>
                <a:cs typeface="Vazirmatn ExtraBold" pitchFamily="2" charset="-78"/>
              </a:rPr>
              <a:t>: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="" xmlns:a16="http://schemas.microsoft.com/office/drawing/2014/main" id="{BE97557D-04D3-53E1-71E2-A41667EA30FA}"/>
              </a:ext>
            </a:extLst>
          </p:cNvPr>
          <p:cNvSpPr/>
          <p:nvPr/>
        </p:nvSpPr>
        <p:spPr>
          <a:xfrm>
            <a:off x="9621322" y="3684508"/>
            <a:ext cx="4215289" cy="2480310"/>
          </a:xfrm>
          <a:prstGeom prst="roundRect">
            <a:avLst>
              <a:gd name="adj" fmla="val 4424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FF954F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="" xmlns:a16="http://schemas.microsoft.com/office/drawing/2014/main" id="{FEF54EB3-D20E-D1A7-4C30-D61E637A09C7}"/>
              </a:ext>
            </a:extLst>
          </p:cNvPr>
          <p:cNvSpPr/>
          <p:nvPr/>
        </p:nvSpPr>
        <p:spPr>
          <a:xfrm>
            <a:off x="13768030" y="3684508"/>
            <a:ext cx="91440" cy="2480310"/>
          </a:xfrm>
          <a:prstGeom prst="roundRect">
            <a:avLst>
              <a:gd name="adj" fmla="val 91163"/>
            </a:avLst>
          </a:prstGeom>
          <a:solidFill>
            <a:srgbClr val="FF954F"/>
          </a:solidFill>
          <a:ln/>
        </p:spPr>
      </p:sp>
      <p:sp>
        <p:nvSpPr>
          <p:cNvPr id="6" name="Text 4">
            <a:extLst>
              <a:ext uri="{FF2B5EF4-FFF2-40B4-BE49-F238E27FC236}">
                <a16:creationId xmlns="" xmlns:a16="http://schemas.microsoft.com/office/drawing/2014/main" id="{6B694467-C2BC-3F33-C526-47B0E0FD49DA}"/>
              </a:ext>
            </a:extLst>
          </p:cNvPr>
          <p:cNvSpPr/>
          <p:nvPr/>
        </p:nvSpPr>
        <p:spPr>
          <a:xfrm>
            <a:off x="10693837" y="3905726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en-US" sz="220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</a:t>
            </a:r>
            <a:r>
              <a:rPr lang="ar-EG" sz="220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السهر المستمر والارهاق</a:t>
            </a:r>
            <a:endParaRPr lang="en-US" sz="2200" dirty="0"/>
          </a:p>
        </p:txBody>
      </p:sp>
      <p:sp>
        <p:nvSpPr>
          <p:cNvPr id="7" name="Text 5">
            <a:extLst>
              <a:ext uri="{FF2B5EF4-FFF2-40B4-BE49-F238E27FC236}">
                <a16:creationId xmlns="" xmlns:a16="http://schemas.microsoft.com/office/drawing/2014/main" id="{6A9A7669-3933-82C2-68A6-E1A9EADEB3CF}"/>
              </a:ext>
            </a:extLst>
          </p:cNvPr>
          <p:cNvSpPr/>
          <p:nvPr/>
        </p:nvSpPr>
        <p:spPr>
          <a:xfrm>
            <a:off x="9842540" y="4395549"/>
            <a:ext cx="3704273" cy="1548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يؤثر السهر المستمر والارهاق علي الجهاز العصبي بشكل سلبي ومباشر علي الجهاز العصبي من عدة جوانب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اضعاف القدرة علي التركيز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استنزاف الطاقة العصبية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تعطيل عملية الترميم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err="1" smtClean="0">
                <a:latin typeface="Vazirmatn ExtraBold" pitchFamily="2" charset="-78"/>
                <a:cs typeface="Vazirmatn ExtraBold" pitchFamily="2" charset="-78"/>
              </a:rPr>
              <a:t>التاثير</a:t>
            </a: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 علي معالجة البيانات</a:t>
            </a:r>
          </a:p>
          <a:p>
            <a:pPr marL="0" indent="0" algn="r" rtl="1">
              <a:lnSpc>
                <a:spcPts val="2000"/>
              </a:lnSpc>
              <a:buNone/>
            </a:pP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="" xmlns:a16="http://schemas.microsoft.com/office/drawing/2014/main" id="{A02D4E6C-F5BB-EC2F-1E4F-4F2C56C8F3DE}"/>
              </a:ext>
            </a:extLst>
          </p:cNvPr>
          <p:cNvSpPr/>
          <p:nvPr/>
        </p:nvSpPr>
        <p:spPr>
          <a:xfrm>
            <a:off x="5207556" y="3684508"/>
            <a:ext cx="4215408" cy="2480310"/>
          </a:xfrm>
          <a:prstGeom prst="roundRect">
            <a:avLst>
              <a:gd name="adj" fmla="val 4424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CC520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="" xmlns:a16="http://schemas.microsoft.com/office/drawing/2014/main" id="{1882728C-D0F7-1DA9-BE4E-04CA38D827EF}"/>
              </a:ext>
            </a:extLst>
          </p:cNvPr>
          <p:cNvSpPr/>
          <p:nvPr/>
        </p:nvSpPr>
        <p:spPr>
          <a:xfrm>
            <a:off x="9354383" y="3684508"/>
            <a:ext cx="91440" cy="2480310"/>
          </a:xfrm>
          <a:prstGeom prst="roundRect">
            <a:avLst>
              <a:gd name="adj" fmla="val 91163"/>
            </a:avLst>
          </a:prstGeom>
          <a:solidFill>
            <a:srgbClr val="CC5200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="" xmlns:a16="http://schemas.microsoft.com/office/drawing/2014/main" id="{FCAEA40D-338E-54E7-9FE8-AC1D2D695331}"/>
              </a:ext>
            </a:extLst>
          </p:cNvPr>
          <p:cNvSpPr/>
          <p:nvPr/>
        </p:nvSpPr>
        <p:spPr>
          <a:xfrm>
            <a:off x="6014323" y="3905726"/>
            <a:ext cx="3118842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ar-EG" sz="220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</a:rPr>
              <a:t>الضوضاء والتوتر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="" xmlns:a16="http://schemas.microsoft.com/office/drawing/2014/main" id="{F4830D66-1179-1EB8-B09C-54B9DA29BC28}"/>
              </a:ext>
            </a:extLst>
          </p:cNvPr>
          <p:cNvSpPr/>
          <p:nvPr/>
        </p:nvSpPr>
        <p:spPr>
          <a:xfrm>
            <a:off x="5428774" y="4395549"/>
            <a:ext cx="3704392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تؤثر الضوضاء والتوتر علي الجهاز العصبي بشكل سلبي عن طريق: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err="1" smtClean="0">
                <a:latin typeface="Vazirmatn ExtraBold" pitchFamily="2" charset="-78"/>
                <a:cs typeface="Vazirmatn ExtraBold" pitchFamily="2" charset="-78"/>
              </a:rPr>
              <a:t>التاثير</a:t>
            </a: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 علي التوازن </a:t>
            </a:r>
            <a:r>
              <a:rPr lang="ar-EG" sz="1550" dirty="0" err="1" smtClean="0">
                <a:latin typeface="Vazirmatn ExtraBold" pitchFamily="2" charset="-78"/>
                <a:cs typeface="Vazirmatn ExtraBold" pitchFamily="2" charset="-78"/>
              </a:rPr>
              <a:t>الكميائي</a:t>
            </a:r>
            <a:endParaRPr lang="ar-EG" sz="1550" dirty="0" smtClean="0">
              <a:latin typeface="Vazirmatn ExtraBold" pitchFamily="2" charset="-78"/>
              <a:cs typeface="Vazirmatn ExtraBold" pitchFamily="2" charset="-78"/>
            </a:endParaRP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اعاقة الراحة والترميم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err="1" smtClean="0">
                <a:latin typeface="Vazirmatn ExtraBold" pitchFamily="2" charset="-78"/>
                <a:cs typeface="Vazirmatn ExtraBold" pitchFamily="2" charset="-78"/>
              </a:rPr>
              <a:t>التاثير</a:t>
            </a: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 علي </a:t>
            </a:r>
            <a:r>
              <a:rPr lang="ar-EG" sz="1550" dirty="0" err="1" smtClean="0">
                <a:latin typeface="Vazirmatn ExtraBold" pitchFamily="2" charset="-78"/>
                <a:cs typeface="Vazirmatn ExtraBold" pitchFamily="2" charset="-78"/>
              </a:rPr>
              <a:t>الكفائة</a:t>
            </a: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 الذهنية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="" xmlns:a16="http://schemas.microsoft.com/office/drawing/2014/main" id="{21AE5B1A-2159-D887-425C-6158177AAEA1}"/>
              </a:ext>
            </a:extLst>
          </p:cNvPr>
          <p:cNvSpPr/>
          <p:nvPr/>
        </p:nvSpPr>
        <p:spPr>
          <a:xfrm>
            <a:off x="793909" y="3684508"/>
            <a:ext cx="4215289" cy="2480310"/>
          </a:xfrm>
          <a:prstGeom prst="roundRect">
            <a:avLst>
              <a:gd name="adj" fmla="val 4424"/>
            </a:avLst>
          </a:prstGeom>
          <a:solidFill>
            <a:srgbClr val="FFFFF4">
              <a:alpha val="95000"/>
            </a:srgbClr>
          </a:solidFill>
          <a:ln w="22860">
            <a:solidFill>
              <a:srgbClr val="7D3E2C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="" xmlns:a16="http://schemas.microsoft.com/office/drawing/2014/main" id="{79F1EB5B-E102-F27F-0B0C-E771E703C051}"/>
              </a:ext>
            </a:extLst>
          </p:cNvPr>
          <p:cNvSpPr/>
          <p:nvPr/>
        </p:nvSpPr>
        <p:spPr>
          <a:xfrm>
            <a:off x="4940618" y="3684508"/>
            <a:ext cx="91440" cy="2480310"/>
          </a:xfrm>
          <a:prstGeom prst="roundRect">
            <a:avLst>
              <a:gd name="adj" fmla="val 91163"/>
            </a:avLst>
          </a:prstGeom>
          <a:solidFill>
            <a:srgbClr val="7D3E2C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="" xmlns:a16="http://schemas.microsoft.com/office/drawing/2014/main" id="{764D951A-FB7D-8D00-6646-D1A1B1551756}"/>
              </a:ext>
            </a:extLst>
          </p:cNvPr>
          <p:cNvSpPr/>
          <p:nvPr/>
        </p:nvSpPr>
        <p:spPr>
          <a:xfrm>
            <a:off x="1866424" y="3905726"/>
            <a:ext cx="2852976" cy="370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900"/>
              </a:lnSpc>
              <a:buNone/>
            </a:pPr>
            <a:r>
              <a:rPr lang="ar-EG" sz="2200" dirty="0" smtClean="0">
                <a:solidFill>
                  <a:srgbClr val="67534F"/>
                </a:solidFill>
                <a:latin typeface="Marcellus" pitchFamily="34" charset="0"/>
                <a:ea typeface="Marcellus" pitchFamily="34" charset="-122"/>
              </a:rPr>
              <a:t>المنبهات والمواد المخدرة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="" xmlns:a16="http://schemas.microsoft.com/office/drawing/2014/main" id="{304099A6-C956-57B2-E414-29614B9BBC80}"/>
              </a:ext>
            </a:extLst>
          </p:cNvPr>
          <p:cNvSpPr/>
          <p:nvPr/>
        </p:nvSpPr>
        <p:spPr>
          <a:xfrm>
            <a:off x="1015127" y="4395549"/>
            <a:ext cx="3704273" cy="1290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تؤثر المنبهات والمخدرات علي الجهاز العصبي بالسلب عن طريق: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تدمير الخلايا والوصلات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اضطراب السيال العصبي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err="1" smtClean="0">
                <a:latin typeface="Vazirmatn ExtraBold" pitchFamily="2" charset="-78"/>
                <a:cs typeface="Vazirmatn ExtraBold" pitchFamily="2" charset="-78"/>
              </a:rPr>
              <a:t>التاثير</a:t>
            </a: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 علي سرعة الاستجابة</a:t>
            </a:r>
          </a:p>
          <a:p>
            <a:pPr marL="0" indent="0" algn="r" rtl="1">
              <a:lnSpc>
                <a:spcPts val="2000"/>
              </a:lnSpc>
              <a:buNone/>
            </a:pPr>
            <a:r>
              <a:rPr lang="ar-EG" sz="1550" dirty="0" smtClean="0">
                <a:latin typeface="Vazirmatn ExtraBold" pitchFamily="2" charset="-78"/>
                <a:cs typeface="Vazirmatn ExtraBold" pitchFamily="2" charset="-78"/>
              </a:rPr>
              <a:t>الادمان</a:t>
            </a:r>
            <a:endParaRPr lang="en-US" sz="1550" dirty="0">
              <a:latin typeface="Vazirmatn ExtraBold" pitchFamily="2" charset="-78"/>
              <a:cs typeface="Vazirmatn ExtraBold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65709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:\177687950182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017" y="252249"/>
            <a:ext cx="14412269" cy="7861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157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76</TotalTime>
  <Words>223</Words>
  <Application>Microsoft Office PowerPoint</Application>
  <PresentationFormat>مخصص</PresentationFormat>
  <Paragraphs>44</Paragraphs>
  <Slides>6</Slides>
  <Notes>0</Notes>
  <HiddenSlides>0</HiddenSlides>
  <MMClips>0</MMClips>
  <ScaleCrop>false</ScaleCrop>
  <HeadingPairs>
    <vt:vector size="4" baseType="variant">
      <vt:variant>
        <vt:lpstr>نسق</vt:lpstr>
      </vt:variant>
      <vt:variant>
        <vt:i4>1</vt:i4>
      </vt:variant>
      <vt:variant>
        <vt:lpstr>عناوين الشرائح</vt:lpstr>
      </vt:variant>
      <vt:variant>
        <vt:i4>6</vt:i4>
      </vt:variant>
    </vt:vector>
  </HeadingPairs>
  <TitlesOfParts>
    <vt:vector size="7" baseType="lpstr"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𝓩𝓔𝓘𝓐𝓓 زيہاد</dc:creator>
  <cp:lastModifiedBy>TOP</cp:lastModifiedBy>
  <cp:revision>9</cp:revision>
  <dcterms:created xsi:type="dcterms:W3CDTF">2026-02-26T15:40:03Z</dcterms:created>
  <dcterms:modified xsi:type="dcterms:W3CDTF">2026-04-22T17:42:32Z</dcterms:modified>
</cp:coreProperties>
</file>